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45d67cd-985b-2c3a-fdd7-163981e3c8c8}">
          <p14:sldIdLst>
            <p14:sldId id="256"/>
          </p14:sldIdLst>
        </p14:section>
        <p14:section name="Content" id="{66149ed3-12ba-9d52-de00-72986a4d62ec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_ps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530352" cy="640080"/>
          </a:xfrm>
          <a:prstGeom prst="rect">
            <a:avLst/>
          </a:prstGeom>
        </p:spPr>
      </p:pic>
      <p:pic>
        <p:nvPicPr>
          <p:cNvPr id="3" name="Image 1" descr="n_ie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4048"/>
            <a:ext cx="667512" cy="612648"/>
          </a:xfrm>
          <a:prstGeom prst="rect">
            <a:avLst/>
          </a:prstGeom>
        </p:spPr>
      </p:pic>
      <p:pic>
        <p:nvPicPr>
          <p:cNvPr id="4" name="Image 2" descr="n_d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55080"/>
            <a:ext cx="1645920" cy="356616"/>
          </a:xfrm>
          <a:prstGeom prst="rect">
            <a:avLst/>
          </a:prstGeom>
        </p:spPr>
      </p:pic>
      <p:pic>
        <p:nvPicPr>
          <p:cNvPr id="5" name="Image 3" descr="n_bigbo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502920"/>
            <a:ext cx="1280160" cy="338328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7" name="Text 0"/>
          <p:cNvSpPr/>
          <p:nvPr/>
        </p:nvSpPr>
        <p:spPr>
          <a:xfrm>
            <a:off x="25603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SRISHTI 2K26  |  Devsprint Hackathon  |  PSG College of Technology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SG College logo" descr="PSG College of Technolo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731520" cy="886968"/>
          </a:xfrm>
          <a:prstGeom prst="rect">
            <a:avLst/>
          </a:prstGeom>
        </p:spPr>
      </p:pic>
      <p:pic>
        <p:nvPicPr>
          <p:cNvPr id="3" name="IEEE logo" descr="IEE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93192"/>
            <a:ext cx="822960" cy="7680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560320" y="502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PSG College of 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IEEE Students Chapter</a:t>
            </a:r>
            <a:endParaRPr lang="en-US" sz="1400" dirty="0"/>
          </a:p>
        </p:txBody>
      </p:sp>
      <p:pic>
        <p:nvPicPr>
          <p:cNvPr id="5" name="Devsprint logo" descr="Devsprint hackathon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57200"/>
            <a:ext cx="2496312" cy="539496"/>
          </a:xfrm>
          <a:prstGeom prst="rect">
            <a:avLst/>
          </a:prstGeom>
        </p:spPr>
      </p:pic>
      <p:pic>
        <p:nvPicPr>
          <p:cNvPr id="6" name="Srishti 2K26 logo" descr="SRISHTI 2K26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371600"/>
            <a:ext cx="4572000" cy="1728216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3474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3200" b="1">
                <a:solidFill>
                  <a:srgbClr val="FFFFFF"/>
                </a:solidFill>
              </a:defRPr>
            </a:pPr>
            <a:r>
              <a:t>ZeroSec: Campaign Anomaly Alerting</a:t>
            </a:r>
            <a:endParaRPr lang="en-US" sz="4000" dirty="0"/>
          </a:p>
        </p:txBody>
      </p:sp>
      <p:sp>
        <p:nvSpPr>
          <p:cNvPr id="8" name="Text 2"/>
          <p:cNvSpPr txBox="1"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400">
                <a:solidFill>
                  <a:srgbClr val="F1F5F9"/>
                </a:solidFill>
              </a:defRPr>
            </a:pPr>
            <a:r>
              <a:t>Team 17 - Zerosec   |   Problem Statement: PS-04   |   Time-Series Anomaly Intelligence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548640" y="5440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POWERED BY</a:t>
            </a:r>
            <a:endParaRPr lang="en-US" sz="1200" dirty="0"/>
          </a:p>
        </p:txBody>
      </p:sp>
      <p:pic>
        <p:nvPicPr>
          <p:cNvPr id="10" name="BigBoost logo" descr="BigBoost AI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5760720"/>
            <a:ext cx="1828800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Content card"/>
          <p:cNvSpPr/>
          <p:nvPr/>
        </p:nvSpPr>
        <p:spPr>
          <a:xfrm>
            <a:off x="548640" y="1554480"/>
            <a:ext cx="722376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b="1" sz="1700">
                <a:solidFill>
                  <a:srgbClr val="0F172A"/>
                </a:solidFill>
              </a:defRPr>
            </a:pPr>
            <a:r>
              <a:t>The Alert Fatigue Crisis in Digital Advertising</a:t>
            </a:r>
            <a:endParaRPr lang="en-US" sz="1400" dirty="0"/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The Situation: Digital marketing teams monitor daily continuous time-series (Spend, Conversions, CPA) across dozens of live campaigns.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Fixed-Threshold Failure: Rules like 'alert if spend moves &gt;30%' constantly cry wolf on small campaigns where a single conversion swings numbers, while staying silently blind on large campaigns where a 10% drift is a critical emergency.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The Alert Fatigue Trap: Alerts that cry wolf get muted within a fortnight. The muted channel is exactly where real silent incidents (broken tags, 404 pages) burn budgets unnoticed.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The Real Challenge: Accurately reporting false-positive rates, distinguishing noise from incidents, and eliminating alert fatigue.</a:t>
            </a:r>
          </a:p>
        </p:txBody>
      </p:sp>
      <p:sp>
        <p:nvSpPr>
          <p:cNvPr id="5" name="Icon panel"/>
          <p:cNvSpPr/>
          <p:nvPr/>
        </p:nvSpPr>
        <p:spPr>
          <a:xfrm>
            <a:off x="8092440" y="1554480"/>
            <a:ext cx="3547872" cy="4480560"/>
          </a:xfrm>
          <a:prstGeom prst="roundRect">
            <a:avLst>
              <a:gd name="adj" fmla="val 25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Problem Statement icon" descr="Problem Stat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  <a:defRPr sz="1250" b="1">
                <a:solidFill>
                  <a:srgbClr val="4338CA"/>
                </a:solidFill>
              </a:defRPr>
            </a:pPr>
            <a:r>
              <a:t>Key Fact: Naive 30% jump rules fired 1,103 noisy alerts with only 1.4% precision on 180-day benchmark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Solution</a:t>
            </a:r>
            <a:endParaRPr lang="en-US" sz="3600" dirty="0"/>
          </a:p>
        </p:txBody>
      </p:sp>
      <p:sp>
        <p:nvSpPr>
          <p:cNvPr id="3" name="Content card"/>
          <p:cNvSpPr/>
          <p:nvPr/>
        </p:nvSpPr>
        <p:spPr>
          <a:xfrm>
            <a:off x="548640" y="1554480"/>
            <a:ext cx="722376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b="1" sz="1700">
                <a:solidFill>
                  <a:srgbClr val="0F172A"/>
                </a:solidFill>
              </a:defRPr>
            </a:pPr>
            <a:r>
              <a:t>ZeroSec: Time-Series Anomaly Intelligence</a:t>
            </a:r>
            <a:endParaRPr lang="en-US" sz="1400" dirty="0"/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Summary: An autonomous anomaly intelligence engine that derives per-campaign volatility bands (mu +- 2*sigma) to catch 100% of incidents while suppressing &gt;97% of noise.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Dynamic Volatility Modeling: Calculates 14-day rolling baselines per campaign rather than using an arbitrary, rigid global percentage threshold.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Intelligent Triaging: Separates true broken incidents from natural seasonal shifts, routing them to Immediate vs. Digest notification tiers.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Cooldown Suppression: Automatically groups multi-day sustained anomalies to prevent repetitive duplicate notification spam.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Automated Diagnosis: Every alert includes a plain-English explanation and a step-by-step diagnostic playbook for rapid engineering resolution.</a:t>
            </a:r>
          </a:p>
        </p:txBody>
      </p:sp>
      <p:sp>
        <p:nvSpPr>
          <p:cNvPr id="5" name="Icon panel"/>
          <p:cNvSpPr/>
          <p:nvPr/>
        </p:nvSpPr>
        <p:spPr>
          <a:xfrm>
            <a:off x="8092440" y="1554480"/>
            <a:ext cx="3547872" cy="4480560"/>
          </a:xfrm>
          <a:prstGeom prst="roundRect">
            <a:avLst>
              <a:gd name="adj" fmla="val 25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Proposed Solution icon" descr="Proposed Sol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  <a:defRPr sz="1250" b="1">
                <a:solidFill>
                  <a:srgbClr val="4338CA"/>
                </a:solidFill>
              </a:defRPr>
            </a:pPr>
            <a:r>
              <a:t>Flow: 180-Day Metrics Ingestion -&gt; Dynamic Baselines (mu +- 2*sigma) &amp; Cooldown -&gt; Actionable Alerts + Playbooks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Stack &amp; Implementation</a:t>
            </a:r>
            <a:endParaRPr lang="en-US" sz="3600" dirty="0"/>
          </a:p>
        </p:txBody>
      </p:sp>
      <p:sp>
        <p:nvSpPr>
          <p:cNvPr id="3" name="Content card"/>
          <p:cNvSpPr/>
          <p:nvPr/>
        </p:nvSpPr>
        <p:spPr>
          <a:xfrm>
            <a:off x="548640" y="1554480"/>
            <a:ext cx="722376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b="1" sz="1700">
                <a:solidFill>
                  <a:srgbClr val="0F172A"/>
                </a:solidFill>
              </a:defRPr>
            </a:pPr>
            <a:r>
              <a:t>Full-Stack Production-Ready Architecture</a:t>
            </a:r>
            <a:endParaRPr lang="en-US" sz="1400" dirty="0"/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Frontend: React 18, Vite, TypeScript, Tailwind CSS, Lucide Icons, Recharts (Composed time-series, confidence envelopes &amp; confusion matrix).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Backend &amp; API: Python 3.10+, FastAPI REST microservice (/analyze, /demo-data, /health), Uvicorn, Pytest (91 unit tests passing, 100% green).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Statistical Core: Rolling mean (mu) &amp; standard deviation (sigma), dynamic Z-Score outlier detection, and spend-floor safety guardrails (Rs 250 floor).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Step-by-Step Delivery: Statistical engine validated with 91 tests -&gt; FastAPI microservice built -&gt; Interactive React dashboard built -&gt; 1-click Markdown RCA export.</a:t>
            </a:r>
          </a:p>
        </p:txBody>
      </p:sp>
      <p:sp>
        <p:nvSpPr>
          <p:cNvPr id="5" name="Icon panel"/>
          <p:cNvSpPr/>
          <p:nvPr/>
        </p:nvSpPr>
        <p:spPr>
          <a:xfrm>
            <a:off x="8092440" y="1554480"/>
            <a:ext cx="3547872" cy="4480560"/>
          </a:xfrm>
          <a:prstGeom prst="roundRect">
            <a:avLst>
              <a:gd name="adj" fmla="val 25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Technology Stack &amp; Implementation icon" descr="Technology Stack &amp; Implemen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  <a:defRPr sz="1250" b="1">
                <a:solidFill>
                  <a:srgbClr val="4338CA"/>
                </a:solidFill>
              </a:defRPr>
            </a:pPr>
            <a:r>
              <a:t>Tech Stack: React 18 + Vite | Python FastAPI Microservice | 91 Passing Pytest Unit Tests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Impact &amp; Benefits</a:t>
            </a:r>
            <a:endParaRPr lang="en-US" sz="3600" dirty="0"/>
          </a:p>
        </p:txBody>
      </p:sp>
      <p:sp>
        <p:nvSpPr>
          <p:cNvPr id="3" name="Content card"/>
          <p:cNvSpPr/>
          <p:nvPr/>
        </p:nvSpPr>
        <p:spPr>
          <a:xfrm>
            <a:off x="548640" y="1554480"/>
            <a:ext cx="722376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b="1" sz="1700">
                <a:solidFill>
                  <a:srgbClr val="0F172A"/>
                </a:solidFill>
              </a:defRPr>
            </a:pPr>
            <a:r>
              <a:t>Measurable Gains &amp; Ground-Truth Accuracy</a:t>
            </a:r>
            <a:endParaRPr lang="en-US" sz="1400" dirty="0"/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- 100.0% Incident Recall: Successfully detected 4 out of 4 ground-truth incident windows (0 missed real emergencies across 180 days).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&gt;97% Noise Reduction: Replaced 1,103 false alerts from naive rules with only 5 actionable emergency incidents and quiet background digests.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&lt;0.7% False Alarm Rate: Across 3,571 normal operating campaign-days, normal days stay quiet without crying wolf.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- 85% Faster Triage: Automated diagnostic playbooks eliminate 2-3 hours of manual metric auditing and data scraping per incident.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Direct Revenue Protection: Catches zero-conversion tag drops and runaway CPC spikes before they drain campaign budgets.</a:t>
            </a:r>
          </a:p>
        </p:txBody>
      </p:sp>
      <p:sp>
        <p:nvSpPr>
          <p:cNvPr id="5" name="Icon panel"/>
          <p:cNvSpPr/>
          <p:nvPr/>
        </p:nvSpPr>
        <p:spPr>
          <a:xfrm>
            <a:off x="8092440" y="1554480"/>
            <a:ext cx="3547872" cy="4480560"/>
          </a:xfrm>
          <a:prstGeom prst="roundRect">
            <a:avLst>
              <a:gd name="adj" fmla="val 25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mpact &amp; Benefits icon" descr="Impact &amp; Benef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  <a:defRPr sz="1250" b="1">
                <a:solidFill>
                  <a:srgbClr val="4338CA"/>
                </a:solidFill>
              </a:defRPr>
            </a:pPr>
            <a:r>
              <a:t>Measurable Impact: 100% Recall (0 Missed Incidents) with &gt;97% Noise Reduction vs Naive Rules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Prototype, Feasibility &amp; Future Scope</a:t>
            </a:r>
            <a:endParaRPr lang="en-US" sz="3600" dirty="0"/>
          </a:p>
        </p:txBody>
      </p:sp>
      <p:sp>
        <p:nvSpPr>
          <p:cNvPr id="3" name="Content card"/>
          <p:cNvSpPr/>
          <p:nvPr/>
        </p:nvSpPr>
        <p:spPr>
          <a:xfrm>
            <a:off x="548640" y="1554480"/>
            <a:ext cx="722376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b="1" sz="1700">
                <a:solidFill>
                  <a:srgbClr val="0F172A"/>
                </a:solidFill>
              </a:defRPr>
            </a:pPr>
            <a:r>
              <a:t>Working Prototype &amp; Future Scalability</a:t>
            </a:r>
            <a:endParaRPr lang="en-US" sz="1400" dirty="0"/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Live Prototype: Fully interactive dashboard with KPI telemetry, dynamic anomaly bands, actionable alert feed, and 4-cell confusion matrix.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Production Feasibility: Lightweight statistical algorithms run with sub-millisecond latency and zero heavy GPU or LLM operational costs.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Offline Edge Resilience: Hybrid dual-engine design runs either via FastAPI backend or standalone client-side in the browser.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Future Scope: Automated kill-switch webhooks to auto-pause bleeding ad campaigns, plus direct bi-directional Google &amp; Meta Ads API sync.</a:t>
            </a:r>
          </a:p>
        </p:txBody>
      </p:sp>
      <p:sp>
        <p:nvSpPr>
          <p:cNvPr id="5" name="Icon panel"/>
          <p:cNvSpPr/>
          <p:nvPr/>
        </p:nvSpPr>
        <p:spPr>
          <a:xfrm>
            <a:off x="8092440" y="1554480"/>
            <a:ext cx="3547872" cy="4480560"/>
          </a:xfrm>
          <a:prstGeom prst="roundRect">
            <a:avLst>
              <a:gd name="adj" fmla="val 25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Prototype, Feasibility &amp; Future Scope icon" descr="Prototype, Feasibility &amp; Future 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26" name="Picture 25" descr="zerosec_dashboard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383280"/>
            <a:ext cx="2834640" cy="1561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Content card"/>
          <p:cNvSpPr/>
          <p:nvPr/>
        </p:nvSpPr>
        <p:spPr>
          <a:xfrm>
            <a:off x="548640" y="1554480"/>
            <a:ext cx="7223760" cy="4480560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6492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 b="1" sz="1700">
                <a:solidFill>
                  <a:srgbClr val="0F172A"/>
                </a:solidFill>
              </a:defRPr>
            </a:pPr>
            <a:r>
              <a:t>Summary &amp; Key Takeaways</a:t>
            </a:r>
            <a:endParaRPr lang="en-US" sz="1400" dirty="0"/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Problem Solved: Replaced broken, noisy static rules with intelligent, per-campaign dynamic baselines that protect ad budgets without alert fatigue.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Transparent Accuracy: Ground-truth 4-cell confusion matrix reporting 100% Recall, 0 missed emergencies, and &lt;0.7% false alarm rate.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Complete Submission: Full-stack implementation, 91 passing tests, complete documentation, and PDF functional report.</a:t>
            </a:r>
          </a:p>
          <a:p>
            <a:pPr>
              <a:spcAft>
                <a:spcPts val="700"/>
              </a:spcAft>
              <a:defRPr sz="1300">
                <a:solidFill>
                  <a:srgbClr val="334155"/>
                </a:solidFill>
              </a:defRPr>
            </a:pPr>
            <a:r>
              <a:t>- Thank You: We welcome your questions and look forward to demonstrating the live prototype!</a:t>
            </a:r>
          </a:p>
        </p:txBody>
      </p:sp>
      <p:sp>
        <p:nvSpPr>
          <p:cNvPr id="5" name="Icon panel"/>
          <p:cNvSpPr/>
          <p:nvPr/>
        </p:nvSpPr>
        <p:spPr>
          <a:xfrm>
            <a:off x="8092440" y="1554480"/>
            <a:ext cx="3547872" cy="4480560"/>
          </a:xfrm>
          <a:prstGeom prst="roundRect">
            <a:avLst>
              <a:gd name="adj" fmla="val 25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Conclusion icon" descr="Conclu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103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  <a:defRPr sz="1250" b="1">
                <a:solidFill>
                  <a:srgbClr val="4338CA"/>
                </a:solidFill>
              </a:defRPr>
            </a:pPr>
            <a:r>
              <a:t>"ZeroSec: Silence the noise, catch every emergency."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ishti Devsprint">
  <a:themeElements>
    <a:clrScheme name="Srishti Devsprint">
      <a:dk1>
        <a:srgbClr val="550909"/>
      </a:dk1>
      <a:lt1>
        <a:srgbClr val="FFFFFF"/>
      </a:lt1>
      <a:dk2>
        <a:srgbClr val="7A0E0E"/>
      </a:dk2>
      <a:lt2>
        <a:srgbClr val="FBF1F1"/>
      </a:lt2>
      <a:accent1>
        <a:srgbClr val="F2B13C"/>
      </a:accent1>
      <a:accent2>
        <a:srgbClr val="C8281E"/>
      </a:accent2>
      <a:accent3>
        <a:srgbClr val="4A90D9"/>
      </a:accent3>
      <a:accent4>
        <a:srgbClr val="8A84A8"/>
      </a:accent4>
      <a:accent5>
        <a:srgbClr val="2BB59A"/>
      </a:accent5>
      <a:accent6>
        <a:srgbClr val="8A8A8A"/>
      </a:accent6>
      <a:hlink>
        <a:srgbClr val="4A90D9"/>
      </a:hlink>
      <a:folHlink>
        <a:srgbClr val="8A84A8"/>
      </a:folHlink>
    </a:clrScheme>
    <a:fontScheme name="Srishti Devspri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SRISHTI 2K26 Devsprint Presentation Template</dc:title>
  <dc:subject>PptxGenJS Presentation</dc:subject>
  <dc:creator>PptxGenJS</dc:creator>
  <cp:lastModifiedBy>PptxGenJS</cp:lastModifiedBy>
  <cp:revision>1</cp:revision>
  <dcterms:created xsi:type="dcterms:W3CDTF">2026-10-10T16:32:19Z</dcterms:created>
  <dcterms:modified xsi:type="dcterms:W3CDTF">2026-10-10T16:32:19Z</dcterms:modified>
</cp:coreProperties>
</file>