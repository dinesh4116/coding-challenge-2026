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8368" y="685800"/>
            <a:ext cx="128016" cy="521208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914400"/>
            <a:ext cx="9144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1">
                <a:solidFill>
                  <a:srgbClr val="A7F3D0"/>
                </a:solidFill>
                <a:latin typeface="Aptos"/>
              </a:rPr>
              <a:t>DEVSPRINT 2K26  /  FLAGSHIP HACKATHON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4128" y="1536192"/>
            <a:ext cx="9875520" cy="138988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Aptos"/>
              </a:rPr>
              <a:t>Search Term</a:t>
            </a:r>
            <a:br/>
            <a:r>
              <a:rPr sz="4000" b="1">
                <a:solidFill>
                  <a:srgbClr val="FFFFFF"/>
                </a:solidFill>
                <a:latin typeface="Aptos"/>
              </a:rPr>
              <a:t>Triage Engine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3246120"/>
            <a:ext cx="9509760" cy="7498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000" b="0">
                <a:solidFill>
                  <a:srgbClr val="CBD5E1"/>
                </a:solidFill>
                <a:latin typeface="Aptos"/>
              </a:rPr>
              <a:t>Turning 25,000 search-term rows into explainable, review-ready decisions.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4617720"/>
            <a:ext cx="1353312" cy="448056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4718304"/>
            <a:ext cx="131673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ptos"/>
              </a:rPr>
              <a:t>PROMOTE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679191" y="4617720"/>
            <a:ext cx="1353312" cy="448056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7480" y="4718304"/>
            <a:ext cx="131673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EF4444"/>
                </a:solidFill>
                <a:latin typeface="Aptos"/>
              </a:rPr>
              <a:t>BLOCK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79392" y="4617720"/>
            <a:ext cx="1353312" cy="448056"/>
          </a:xfrm>
          <a:prstGeom prst="round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4718304"/>
            <a:ext cx="131673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Aptos"/>
              </a:rPr>
              <a:t>IGNORE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6080760"/>
            <a:ext cx="91440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0">
                <a:solidFill>
                  <a:srgbClr val="94A3B8"/>
                </a:solidFill>
                <a:latin typeface="Aptos"/>
              </a:rPr>
              <a:t>Kestrel Business Funding  •  Explainable decision support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ptos"/>
              </a:rPr>
              <a:t>01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"/>
              </a:rPr>
              <a:t>25,000 queries. Limited human attention.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8016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Search-term reports mix valuable business-loan intent with irrelevant or unsupported searches.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2615184" cy="11430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2057400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500" b="1">
                <a:solidFill>
                  <a:srgbClr val="3B82F6"/>
                </a:solidFill>
                <a:latin typeface="Aptos"/>
              </a:rPr>
              <a:t>25,000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7860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search-term rows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874519"/>
            <a:ext cx="2615184" cy="11430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0" y="2057400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500" b="1">
                <a:solidFill>
                  <a:srgbClr val="10B981"/>
                </a:solidFill>
                <a:latin typeface="Aptos"/>
              </a:rPr>
              <a:t>17,526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57860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unique phrases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874519"/>
            <a:ext cx="2615184" cy="11430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0528" y="2057400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500" b="1">
                <a:solidFill>
                  <a:srgbClr val="F59E0B"/>
                </a:solidFill>
                <a:latin typeface="Aptos"/>
              </a:rPr>
              <a:t>80.5%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528" y="257860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rows with zero conversions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0576" y="1874519"/>
            <a:ext cx="2615184" cy="11430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63455" y="2057400"/>
            <a:ext cx="22860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500" b="1">
                <a:solidFill>
                  <a:srgbClr val="EF4444"/>
                </a:solidFill>
                <a:latin typeface="Aptos"/>
              </a:rPr>
              <a:t>64.3%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63455" y="2578608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rows with fewer than 5 clicks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401568"/>
            <a:ext cx="5303520" cy="214884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675887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800" b="1">
                <a:solidFill>
                  <a:srgbClr val="FFFFFF"/>
                </a:solidFill>
                <a:latin typeface="Aptos"/>
              </a:rPr>
              <a:t>Business sells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242816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187952"/>
            <a:ext cx="43434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Aptos"/>
              </a:rPr>
              <a:t>Working capital and business loans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4636007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581144"/>
            <a:ext cx="43434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Aptos"/>
              </a:rPr>
              <a:t>Equipment finance and business lines of credit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5029200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4974336"/>
            <a:ext cx="43434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E2E8F0"/>
                </a:solidFill>
                <a:latin typeface="Aptos"/>
              </a:rPr>
              <a:t>Merchant cash advances and SBA loans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99632" y="3401568"/>
            <a:ext cx="5349240" cy="214884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73952" y="3675887"/>
            <a:ext cx="466344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800" b="1">
                <a:solidFill>
                  <a:srgbClr val="111827"/>
                </a:solidFill>
                <a:latin typeface="Aptos"/>
              </a:rPr>
              <a:t>Business does NOT sell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73952" y="4242816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702552" y="4187952"/>
            <a:ext cx="43434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Personal loans, mortgages, student loans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3952" y="4636007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02552" y="4581144"/>
            <a:ext cx="43434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Grants or job opportunities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73952" y="5029200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02552" y="4974336"/>
            <a:ext cx="4343400" cy="35661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1E293B"/>
                </a:solidFill>
                <a:latin typeface="Aptos"/>
              </a:rPr>
              <a:t>Unrelated downloads and templates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5897880"/>
            <a:ext cx="1088136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1">
                <a:solidFill>
                  <a:srgbClr val="111827"/>
                </a:solidFill>
                <a:latin typeface="Aptos"/>
              </a:rPr>
              <a:t>Core challenge: relevance + measured performance + uncertainty — not clicks alone.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Aptos"/>
              </a:rPr>
              <a:t>DEVSPRINT 2K26  •  PS-01 SEARCH TERM TRIAGE ENGINE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09960" y="648309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ptos"/>
              </a:rPr>
              <a:t>02  / 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"/>
              </a:rPr>
              <a:t>An explainable triage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8016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The engine processes each row, keeps its original context, and gives a reason for every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783080"/>
            <a:ext cx="576072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920240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27632" y="180136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Validate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9039" y="1801368"/>
            <a:ext cx="7589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ptos"/>
              </a:rPr>
              <a:t>Required columns, numeric fields, missing/invalid values.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24128" y="2331720"/>
            <a:ext cx="7315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606040"/>
            <a:ext cx="576072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2743200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27632" y="262432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Classify intent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624328"/>
            <a:ext cx="7589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ptos"/>
              </a:rPr>
              <a:t>Supported product, unsupported offering, unrelated or ambiguous.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24128" y="3154680"/>
            <a:ext cx="7315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77240" y="3429000"/>
            <a:ext cx="576072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566160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27632" y="344728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Evaluate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39" y="3447288"/>
            <a:ext cx="7589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ptos"/>
              </a:rPr>
              <a:t>Clicks, cost, conversions, conversion value, ROAS and sample size.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24128" y="3977639"/>
            <a:ext cx="7315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4251960"/>
            <a:ext cx="576072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2" y="4389120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7632" y="4270248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Recommend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39" y="4270248"/>
            <a:ext cx="7589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ptos"/>
              </a:rPr>
              <a:t>PROMOTE, BLOCK or IGNORE with confidence and review flag.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24128" y="4800600"/>
            <a:ext cx="73152" cy="237744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77240" y="5074920"/>
            <a:ext cx="576072" cy="530352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212080"/>
            <a:ext cx="5029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27632" y="5093207"/>
            <a:ext cx="2148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Export &amp; inspect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093207"/>
            <a:ext cx="75895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Aptos"/>
              </a:rPr>
              <a:t>Searchable dashboard, campaign summaries and CSV downloads.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" y="5870448"/>
            <a:ext cx="10561320" cy="384048"/>
          </a:xfrm>
          <a:prstGeom prst="roundRect">
            <a:avLst/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" y="5961888"/>
            <a:ext cx="1019556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1">
                <a:solidFill>
                  <a:srgbClr val="065F46"/>
                </a:solidFill>
                <a:latin typeface="Aptos"/>
              </a:rPr>
              <a:t>Decision support only: no automatic changes to live advertising accounts.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Aptos"/>
              </a:rPr>
              <a:t>DEVSPRINT 2K26  •  PS-01 SEARCH TERM TRIAGE ENGINE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09960" y="648309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ptos"/>
              </a:rPr>
              <a:t>03  /  DECISION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"/>
              </a:rPr>
              <a:t>Three actions. Evidence-backed reasoning.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8016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Rules are transparent and thresholds are configurable; uncertain rows are routed for human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389888" cy="512064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84248"/>
            <a:ext cx="12618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ptos"/>
              </a:rPr>
              <a:t>PROMOTE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1847088"/>
            <a:ext cx="338328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Relevant + sufficient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810512"/>
            <a:ext cx="52120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Supported business financing intent, minimum clicks, multiple conversions and ROAS above the configured threshold.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063240"/>
            <a:ext cx="1389888" cy="512064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218688"/>
            <a:ext cx="12618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EF4444"/>
                </a:solidFill>
                <a:latin typeface="Aptos"/>
              </a:rPr>
              <a:t>BLOCK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81528"/>
            <a:ext cx="338328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Clearly unsupported / irrelevant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044952"/>
            <a:ext cx="52120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Personal loans, mortgages, grants, job intent or unrelated templates; review before applying negatives.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389888" cy="512064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4453128"/>
            <a:ext cx="126187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Aptos"/>
              </a:rPr>
              <a:t>IGNORE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315968"/>
            <a:ext cx="3383280" cy="2834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600" b="1">
                <a:solidFill>
                  <a:srgbClr val="111827"/>
                </a:solidFill>
                <a:latin typeface="Aptos"/>
              </a:rPr>
              <a:t>Uncertain or not yet proven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4279392"/>
            <a:ext cx="5212080" cy="621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64748B"/>
                </a:solidFill>
                <a:latin typeface="Aptos"/>
              </a:rPr>
              <a:t>Thin samples, ambiguous intent, or performance that does not justify a confident action.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5669280"/>
            <a:ext cx="10607040" cy="512064"/>
          </a:xfrm>
          <a:prstGeom prst="roundRect">
            <a:avLst/>
          </a:prstGeom>
          <a:solidFill>
            <a:srgbClr val="FFF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5824728"/>
            <a:ext cx="1024128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92400E"/>
                </a:solidFill>
                <a:latin typeface="Aptos"/>
              </a:rPr>
              <a:t>Important: a query with 2 clicks and 1 conversion is not a proven winner.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Aptos"/>
              </a:rPr>
              <a:t>DEVSPRINT 2K26  •  PS-01 SEARCH TERM TRIAGE ENGINE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09960" y="648309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ptos"/>
              </a:rPr>
              <a:t>04  / 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"/>
              </a:rPr>
              <a:t>What the engine is designed to catch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8016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Illustrative examples from the supplied synthetic dataset and advertiser profile.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83080"/>
            <a:ext cx="10789920" cy="1024128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29384"/>
            <a:ext cx="6675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Aptos"/>
              </a:rPr>
              <a:t>“reliable business grants for women for truckrs”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920240"/>
            <a:ext cx="120700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29967"/>
            <a:ext cx="111556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EF4444"/>
                </a:solidFill>
                <a:latin typeface="Aptos"/>
              </a:rPr>
              <a:t>BLOCK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9966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Grant intent is outside the lender’s offering, even though clicks/conversions may be recorded.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081528"/>
            <a:ext cx="10789920" cy="1024128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227832"/>
            <a:ext cx="6675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Aptos"/>
              </a:rPr>
              <a:t>“top working capital loan for restaurants”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3218688"/>
            <a:ext cx="120700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3328416"/>
            <a:ext cx="111556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10B981"/>
                </a:solidFill>
                <a:latin typeface="Aptos"/>
              </a:rPr>
              <a:t>PROMOTE*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584448"/>
            <a:ext cx="9966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Matches a supported financing product; promotion still depends on sufficient performance evidence.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4379976"/>
            <a:ext cx="10789920" cy="1024128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526280"/>
            <a:ext cx="6675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500" b="1">
                <a:solidFill>
                  <a:srgbClr val="111827"/>
                </a:solidFill>
                <a:latin typeface="Aptos"/>
              </a:rPr>
              <a:t>“reliable SBA loan requirements calculator”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0" y="4517136"/>
            <a:ext cx="1207008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4626864"/>
            <a:ext cx="1115568" cy="1371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1">
                <a:solidFill>
                  <a:srgbClr val="3B82F6"/>
                </a:solidFill>
                <a:latin typeface="Aptos"/>
              </a:rPr>
              <a:t>IGNORE*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882896"/>
            <a:ext cx="99669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Aptos"/>
              </a:rPr>
              <a:t>Potentially relevant, but low volume can make the performance decision uncertain.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79592"/>
            <a:ext cx="10424160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Aptos"/>
              </a:rPr>
              <a:t>*Final action depends on the configured thresholds and evaluated row metrics.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Aptos"/>
              </a:rPr>
              <a:t>DEVSPRINT 2K26  •  PS-01 SEARCH TERM TRIAGE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09960" y="648309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ptos"/>
              </a:rPr>
              <a:t>05  /  PROTOTYPE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"/>
              </a:rPr>
              <a:t>Dashboard and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8016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A small, local-first application designed to be runnable during judging.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057400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084831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CSV dataset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459736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25k 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79191" y="2139696"/>
            <a:ext cx="23774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Aptos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53512" y="1828800"/>
            <a:ext cx="2057400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63240" y="2084831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Python + Pandas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459736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validation + metrics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38344" y="2139696"/>
            <a:ext cx="23774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Aptos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12664" y="1828800"/>
            <a:ext cx="2057400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22392" y="2084831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Triage engine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22392" y="2459736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rules +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97496" y="2139696"/>
            <a:ext cx="23774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71816" y="1828800"/>
            <a:ext cx="2057400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81544" y="2084831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Streamlit UI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81544" y="2459736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filters + KPIs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6648" y="2139696"/>
            <a:ext cx="237744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800" b="1">
                <a:solidFill>
                  <a:srgbClr val="10B981"/>
                </a:solidFill>
                <a:latin typeface="Aptos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030968" y="1828800"/>
            <a:ext cx="2057400" cy="105156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40696" y="2084831"/>
            <a:ext cx="18288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11827"/>
                </a:solidFill>
                <a:latin typeface="Aptos"/>
              </a:rPr>
              <a:t>CSV export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40696" y="2459736"/>
            <a:ext cx="18288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ptos"/>
              </a:rPr>
              <a:t>review queue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429000"/>
            <a:ext cx="5257800" cy="205740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3703320"/>
            <a:ext cx="46634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700" b="1">
                <a:solidFill>
                  <a:srgbClr val="FFFFFF"/>
                </a:solidFill>
                <a:latin typeface="Aptos"/>
              </a:rPr>
              <a:t>Included features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4197096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4142232"/>
            <a:ext cx="434340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Aptos"/>
              </a:rPr>
              <a:t>Search and filter all decisions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" y="449884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4443984"/>
            <a:ext cx="434340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Aptos"/>
              </a:rPr>
              <a:t>Campaign-level spend / value summaries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0120" y="4800600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745736"/>
            <a:ext cx="434340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Aptos"/>
              </a:rPr>
              <a:t>Confidence, rationale and human-review flags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5102352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88720" y="5047488"/>
            <a:ext cx="434340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E2E8F0"/>
                </a:solidFill>
                <a:latin typeface="Aptos"/>
              </a:rPr>
              <a:t>Download filtered or complete CSV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429000"/>
            <a:ext cx="5257800" cy="20574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92240" y="3703320"/>
            <a:ext cx="457200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700" b="1">
                <a:solidFill>
                  <a:srgbClr val="111827"/>
                </a:solidFill>
                <a:latin typeface="Aptos"/>
              </a:rPr>
              <a:t>Tech stack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92240" y="4197096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720840" y="4142232"/>
            <a:ext cx="434340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Python + Pandas + NumPy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92240" y="4498848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0840" y="4443984"/>
            <a:ext cx="434340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Streamlit dashboard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492240" y="4800600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20840" y="4745736"/>
            <a:ext cx="434340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Rule-based intent matching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92240" y="5102352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20840" y="5047488"/>
            <a:ext cx="4343400" cy="26517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No external API required by the baseline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Aptos"/>
              </a:rPr>
              <a:t>DEVSPRINT 2K26  •  PS-01 SEARCH TERM TRIAGE ENGINE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09960" y="648309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972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000" b="1">
                <a:solidFill>
                  <a:srgbClr val="64748B"/>
                </a:solidFill>
                <a:latin typeface="Aptos"/>
              </a:rPr>
              <a:t>06  / 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76656"/>
            <a:ext cx="10972800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2800" b="1">
                <a:solidFill>
                  <a:srgbClr val="111827"/>
                </a:solidFill>
                <a:latin typeface="Aptos"/>
              </a:rPr>
              <a:t>Validate before acting on 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1280160"/>
            <a:ext cx="109728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Aptos"/>
              </a:rPr>
              <a:t>Success means useful decisions—not merely producing a label for every row.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520440" cy="32004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84831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10B981"/>
                </a:solidFill>
                <a:latin typeface="Aptos"/>
              </a:rPr>
              <a:t>QUALITY CHECKS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66090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60604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Audit unsupported-product blocks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16382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0896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Spot-check promoted terms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6674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61188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Review low-confidence rows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4169663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411480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Inspect conversion attribution anomalies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26280" y="1828800"/>
            <a:ext cx="3520440" cy="32004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0" y="2084831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3B82F6"/>
                </a:solidFill>
                <a:latin typeface="Aptos"/>
              </a:rPr>
              <a:t>METRICS TO TRACK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266090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83480" y="260604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Precision of BLOCK recommendations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316382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83480" y="310896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Promotion quality / observed ROAS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0" y="366674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983480" y="361188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Human-review rate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0" y="4169663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983480" y="411480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Runtime and CSV export integrity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66760" y="1828800"/>
            <a:ext cx="3520440" cy="3200400"/>
          </a:xfrm>
          <a:prstGeom prst="roundRect">
            <a:avLst/>
          </a:prstGeom>
          <a:solidFill>
            <a:srgbClr val="F5F7F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95360" y="2084831"/>
            <a:ext cx="30632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F59E0B"/>
                </a:solidFill>
                <a:latin typeface="Aptos"/>
              </a:rPr>
              <a:t>LIMITATIONS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266090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823960" y="260604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Rule-based baseline, not trained ML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95360" y="316382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23960" y="310896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Keyword patterns may miss misspellings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95360" y="3666744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23960" y="361188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Synthetic conversion data can be noisy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4169663"/>
            <a:ext cx="109728" cy="10972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23960" y="4114800"/>
            <a:ext cx="2743200" cy="4663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0">
                <a:solidFill>
                  <a:srgbClr val="1E293B"/>
                </a:solidFill>
                <a:latin typeface="Aptos"/>
              </a:rPr>
              <a:t>Thresholds need business validation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532120"/>
            <a:ext cx="10652760" cy="594360"/>
          </a:xfrm>
          <a:prstGeom prst="round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24128" y="5724144"/>
            <a:ext cx="101498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Aptos"/>
              </a:rPr>
              <a:t>Next: validate against event-specific rubric, demo key cases, then freeze and package the submission.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4360" y="6510528"/>
            <a:ext cx="91440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r>
              <a:rPr sz="800" b="1">
                <a:solidFill>
                  <a:srgbClr val="64748B"/>
                </a:solidFill>
                <a:latin typeface="Aptos"/>
              </a:rPr>
              <a:t>DEVSPRINT 2K26  •  PS-01 SEARCH TERM TRIAGE ENGINE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09960" y="6483096"/>
            <a:ext cx="457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900" b="1">
                <a:solidFill>
                  <a:srgbClr val="64748B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